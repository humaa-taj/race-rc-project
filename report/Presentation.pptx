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iOjEg4peWO0iBjJLrwTFl/b/6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30256D-7058-4DCC-B27E-2720BC0A7BA4}">
  <a:tblStyle styleId="{B730256D-7058-4DCC-B27E-2720BC0A7BA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A9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DA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DA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19146</c:v>
                </c:pt>
                <c:pt idx="1">
                  <c:v>22726</c:v>
                </c:pt>
                <c:pt idx="2">
                  <c:v>23891</c:v>
                </c:pt>
                <c:pt idx="3">
                  <c:v>22103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DD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Other/Fill-blank</c:v>
                  </c:pt>
                  <c:pt idx="1">
                    <c:v>What</c:v>
                  </c:pt>
                  <c:pt idx="2">
                    <c:v>Which</c:v>
                  </c:pt>
                  <c:pt idx="3">
                    <c:v>How</c:v>
                  </c:pt>
                  <c:pt idx="4">
                    <c:v>Why</c:v>
                  </c:pt>
                  <c:pt idx="5">
                    <c:v>When</c:v>
                  </c:pt>
                  <c:pt idx="6">
                    <c:v>Who</c:v>
                  </c:pt>
                  <c:pt idx="7">
                    <c:v>Where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40653</c:v>
                </c:pt>
                <c:pt idx="1">
                  <c:v>18268</c:v>
                </c:pt>
                <c:pt idx="2">
                  <c:v>12509</c:v>
                </c:pt>
                <c:pt idx="3">
                  <c:v>4697</c:v>
                </c:pt>
                <c:pt idx="4">
                  <c:v>4223</c:v>
                </c:pt>
                <c:pt idx="5">
                  <c:v>3311</c:v>
                </c:pt>
                <c:pt idx="6">
                  <c:v>2152</c:v>
                </c:pt>
                <c:pt idx="7">
                  <c:v>1256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BDD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BLEU-2</c:v>
                </c:pt>
              </c:strCache>
            </c:strRef>
          </c:tx>
          <c:spPr>
            <a:solidFill>
              <a:srgbClr val="4A9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Q. Generation</c:v>
                  </c:pt>
                  <c:pt idx="1">
                    <c:v>Distractor Gen</c:v>
                  </c:pt>
                  <c:pt idx="2">
                    <c:v>Hint Generation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</c:v>
                </c:pt>
                <c:pt idx="1">
                  <c:v>0.056</c:v>
                </c:pt>
                <c:pt idx="2">
                  <c:v>0.071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ROUGE-1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Q. Generation</c:v>
                  </c:pt>
                  <c:pt idx="1">
                    <c:v>Distractor Gen</c:v>
                  </c:pt>
                  <c:pt idx="2">
                    <c:v>Hint Generation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0.164</c:v>
                </c:pt>
                <c:pt idx="2">
                  <c:v>0.206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METEOR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Q. Generation</c:v>
                  </c:pt>
                  <c:pt idx="1">
                    <c:v>Distractor Gen</c:v>
                  </c:pt>
                  <c:pt idx="2">
                    <c:v>Hint Generation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0.083</c:v>
                </c:pt>
                <c:pt idx="1">
                  <c:v>0.142</c:v>
                </c:pt>
                <c:pt idx="2">
                  <c:v>0.277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DD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9FD4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822960"/>
            <a:ext cx="8046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Reading Comprehension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Quiz Generation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286000" y="2560320"/>
            <a:ext cx="4572000" cy="365760"/>
          </a:xfrm>
          <a:prstGeom prst="rect">
            <a:avLst/>
          </a:prstGeom>
          <a:solidFill>
            <a:srgbClr val="4A9FD4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2286000" y="2560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Using Traditional Machine Learning  |  RACE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Huma Taj — 23i0743     |     Masooma Ali — 23i0623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FAST NUCES — BS(CS) Spring 2026 — AI 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14400" y="4114800"/>
            <a:ext cx="2286000" cy="777240"/>
          </a:xfrm>
          <a:prstGeom prst="rect">
            <a:avLst/>
          </a:prstGeom>
          <a:solidFill>
            <a:srgbClr val="1E4D7B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914400" y="41148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Q. Retrieval &amp; Verification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520440" y="4114800"/>
            <a:ext cx="2286000" cy="777240"/>
          </a:xfrm>
          <a:prstGeom prst="rect">
            <a:avLst/>
          </a:prstGeom>
          <a:solidFill>
            <a:srgbClr val="1E4D7B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520440" y="41148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Distractor &amp; Hint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126480" y="4114800"/>
            <a:ext cx="2286000" cy="777240"/>
          </a:xfrm>
          <a:prstGeom prst="rect">
            <a:avLst/>
          </a:prstGeom>
          <a:solidFill>
            <a:srgbClr val="1E4D7B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126480" y="41148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320040" y="256032"/>
            <a:ext cx="54864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75488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5488" y="6217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RACE — Large-scale Reading Comprehension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" y="1078992"/>
            <a:ext cx="1920240" cy="9144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0040" y="11155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87,866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0040" y="16184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Total Samples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468880" y="1078992"/>
            <a:ext cx="1920240" cy="9144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2468880" y="11155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70,292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468880" y="16184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Training (80%)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617720" y="1078992"/>
            <a:ext cx="1920240" cy="9144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617720" y="11155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8,787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617720" y="16184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Dev (10%)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766560" y="1078992"/>
            <a:ext cx="1920240" cy="9144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766560" y="11155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8,787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766560" y="16184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Test (10%)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20050" y="2148864"/>
            <a:ext cx="4114800" cy="26136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57200" y="217627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Dataset Columns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2450592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id, article, question, A, B, C, D, answer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Average article length: 275 words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Average question length: 10 words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Missing values: 14 (filled with 'unknown')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663440" y="214884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Answer Distribution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" name="Google Shape;53;p2"/>
          <p:cNvGraphicFramePr/>
          <p:nvPr/>
        </p:nvGraphicFramePr>
        <p:xfrm>
          <a:off x="4663440" y="2423160"/>
          <a:ext cx="4114800" cy="23774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4" name="Google Shape;54;p2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Source: Lai et al., 2017 — EMNLP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320040" y="256032"/>
            <a:ext cx="54864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75488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75488" y="6217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Patterns &amp; insights from the RACE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20040" y="1051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Question Type Distribution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" name="Google Shape;64;p3"/>
          <p:cNvGraphicFramePr/>
          <p:nvPr/>
        </p:nvGraphicFramePr>
        <p:xfrm>
          <a:off x="320040" y="1325880"/>
          <a:ext cx="5029200" cy="34747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5" name="Google Shape;65;p3"/>
          <p:cNvSpPr/>
          <p:nvPr/>
        </p:nvSpPr>
        <p:spPr>
          <a:xfrm>
            <a:off x="5577840" y="1051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Key EDA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577840" y="1353312"/>
            <a:ext cx="3200400" cy="8686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5669280" y="139903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Answer Imbalance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669280" y="164592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 is most frequent (27.2%), A least (21.8%) → balanced training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577840" y="2286000"/>
            <a:ext cx="3200400" cy="8686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669280" y="233172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Fill-in-blank Dominant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669280" y="2578608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46% of all questions use fill-in-blank style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577840" y="3218688"/>
            <a:ext cx="3200400" cy="8686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669280" y="32644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Wh-questions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669280" y="351129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What (21%) and Which (14%) dominate typed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577840" y="4151376"/>
            <a:ext cx="3200400" cy="8686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669280" y="419709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Article Density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669280" y="4443984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Avg. 275 words/article; multi-sentence reasoning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320040" y="256032"/>
            <a:ext cx="54864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75488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Statistical Analysis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75488" y="6217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Methods applied across Model A and Model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20040" y="1078992"/>
            <a:ext cx="2743200" cy="17830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29768" y="1152144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TF-IDF Vectorisation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29768" y="1463040"/>
            <a:ext cx="2523744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Max 10,000 features, unigrams + bigrams, stop words removed. Used as primary feature representation for supervised &amp; retrieval tasks.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27832" y="1078992"/>
            <a:ext cx="2743200" cy="17830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337560" y="1152144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337560" y="1463040"/>
            <a:ext cx="2523744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Applied in two-stage retrieval: TF-IDF cosine between (article + answer) query and all pool questions to shortlist top-20 candidates.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135624" y="1078992"/>
            <a:ext cx="2743200" cy="17830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245352" y="1152144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Class Balancing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245352" y="1463040"/>
            <a:ext cx="2523744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Majority class (label=0) down-sampled to match minority (label=1), producing balanced training set of 140,584 rows from 351,464 expanded rows.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20040" y="2980944"/>
            <a:ext cx="2743200" cy="17830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29768" y="3054096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Dimensionality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29768" y="3364992"/>
            <a:ext cx="2523744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TruncatedSVD reduced TF-IDF matrix to 100 components before K-Means and GMM clustering to improve cluster quality.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227832" y="2980944"/>
            <a:ext cx="2743200" cy="17830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337560" y="3054096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337560" y="3364992"/>
            <a:ext cx="2523744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7 hand-crafted features for distractor ranking: cosine scores, Jaccard overlap, length ratio, character-set overlap, frequency flags.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135624" y="2980944"/>
            <a:ext cx="2743200" cy="17830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245352" y="3054096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NLP Evaluation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245352" y="3364992"/>
            <a:ext cx="2523744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BLEU-2, ROUGE-1/2/L, and METEOR used to measure end-to-end generation quality on 200 test samples.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320040" y="256032"/>
            <a:ext cx="54864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75488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Interpretation of Statistical Results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75488" y="6217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What the numbers tell 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20040" y="1078992"/>
            <a:ext cx="4114800" cy="1481328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38912" y="1115568"/>
            <a:ext cx="3877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TF-IDF Feature Dominance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38912" y="1417320"/>
            <a:ext cx="3877056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LR + TF-IDF achieves 0.75 accuracy — reflects majority class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TF-IDF cosine dominant feature in hint scorer (coeff +64.1)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OHE variants show genuine learning: Macro F1 ~0.46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617720" y="1078992"/>
            <a:ext cx="4114800" cy="1481328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736592" y="1115568"/>
            <a:ext cx="3877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Cluster Structure (Unsupervised)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736592" y="1417320"/>
            <a:ext cx="3877056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K-Means 0.614 accuracy → TF-IDF space separates correct/incorrect even without labels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GMM 0.539 → soft cluster membership less discriminative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Silhouette score computed to validate cluster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20040" y="2724912"/>
            <a:ext cx="4114800" cy="1481328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38912" y="2761488"/>
            <a:ext cx="3877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NLP Generation Scores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38912" y="3063240"/>
            <a:ext cx="3877056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ROUGE-1: 0.13–0.21 expected for retrieval/extraction systems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Hint gen achieves highest METEOR (0.277) — article sentences share vocab with reference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Low BLEU-2 (0.04–0.07) due to surface vs semantic mismatch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617720" y="2724912"/>
            <a:ext cx="4114800" cy="1481328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736592" y="2761488"/>
            <a:ext cx="3877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Model B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736592" y="3063240"/>
            <a:ext cx="3877056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RF distractor ranker F1 0.858 — full-sentence candidates harder than n-grams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LR hint scorer accuracy 0.994 — clear boundary after class balancing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High metrics validate classical ML viability for this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20040" y="4370832"/>
            <a:ext cx="8412480" cy="54864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Key Takeaway: Classical ML achieves functional performance (Ensemble Macro F1 0.471) on RACE — a dataset where BERT reaches ~65% exact match — demonstrating the value of careful feature engineering.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320040" y="256032"/>
            <a:ext cx="54864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75488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Data Preprocessing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75488" y="6217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Complete steps from raw data to model-ready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20040" y="1143000"/>
            <a:ext cx="384048" cy="384048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20040" y="1143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95528" y="110642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Text Cleaning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95528" y="138074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Lowercase, remove punctuation (regex), normalise whitespace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727448" y="1143000"/>
            <a:ext cx="384048" cy="384048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727448" y="1143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202936" y="110642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Missing Value Handling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202936" y="138074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14 missing options filled with 'unknown'; rows missing article/question/answer dropped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20040" y="2103120"/>
            <a:ext cx="384048" cy="384048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20040" y="21031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95528" y="206654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Row Expansion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95528" y="234086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Each row → 4 rows (one per option A/B/C/D), binary label 1=correct, 0=wrong → 351,464 rows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727448" y="2103120"/>
            <a:ext cx="384048" cy="384048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727448" y="21031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202936" y="206654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Class Balancing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202936" y="234086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Majority class down-sampled → balanced 140,584 rows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20040" y="3063240"/>
            <a:ext cx="384048" cy="384048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320040" y="3063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795528" y="302666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Feature Engineering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95528" y="330098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TF-IDF (10K features, unigrams+bigrams, stop words) + One-Hot Encoding CountVectorizer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727448" y="3063240"/>
            <a:ext cx="384048" cy="384048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727448" y="3063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202936" y="302666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Feature Engineering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202936" y="330098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7 hand-crafted features for distractor; 6 for hints (cosine, Jaccard, length, position flags)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20040" y="4023360"/>
            <a:ext cx="384048" cy="384048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20040" y="4023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95528" y="39867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Dimensionality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95528" y="426110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TruncatedSVD → 100 components for unsupervised clustering (K-Means, GMM)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727448" y="4023360"/>
            <a:ext cx="384048" cy="384048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727448" y="4023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202936" y="39867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Train/Dev/Test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202936" y="426110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Stratified 80/10/10 split; Dev used for hyperparameter tuning, Test for final evaluation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320040" y="256032"/>
            <a:ext cx="54864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75488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75488" y="6217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Why each model was chosen for its task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20040" y="10515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Model A — Answer Verification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20040" y="1353312"/>
            <a:ext cx="2743200" cy="118872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38912" y="1399032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38912" y="1682496"/>
            <a:ext cx="2523744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Probabilistic output (confidence score), fast inference, interpretable. Best single-model accuracy at 0.75 on TF-IDF.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227832" y="1353312"/>
            <a:ext cx="2743200" cy="118872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346704" y="1399032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SVM (LinearSVC)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346704" y="1682496"/>
            <a:ext cx="2523744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Strong baseline for text classification. Calibrated for soft-voting ensemble contribution.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135624" y="1353312"/>
            <a:ext cx="2743200" cy="118872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254496" y="1399032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Naive Bayes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254496" y="1682496"/>
            <a:ext cx="2523744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Computationally efficient; provides complementary probability estimates for ensemble diversity.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20040" y="2633472"/>
            <a:ext cx="8412480" cy="475488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57200" y="265176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Ensemble (Soft Voting LR + SVM + NB): Averages probability outputs to reduce individual model bias → Best Macro F1 of 0.471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20040" y="321868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Model B — Distractor &amp; Hint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20040" y="3520440"/>
            <a:ext cx="2743200" cy="141732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38912" y="356616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Random Forest (Distractor Ranker)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38912" y="3913632"/>
            <a:ext cx="2523744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Handles non-linear feature interactions well. 200 trees, max depth 10. Chosen over LR for better F1 (0.858 vs 0.810).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227832" y="3520440"/>
            <a:ext cx="2743200" cy="141732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3346704" y="356616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Logistic Regression (Hint Scorer)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346704" y="3913632"/>
            <a:ext cx="2523744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Sufficient for linearly separable hint task. High accuracy 0.994. TF-IDF cosine is dominant (coeff +64.1).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135624" y="3520440"/>
            <a:ext cx="2743200" cy="141732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254496" y="356616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Unsupervised (K-Means, GMM)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254496" y="3913632"/>
            <a:ext cx="2523744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Included to satisfy rubric. K-Means achieves 0.614 — TF-IDF space holds cluster structure.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320040" y="256032"/>
            <a:ext cx="54864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75488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Model Training Process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320050" y="900675"/>
            <a:ext cx="4114800" cy="21639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38862" y="1005855"/>
            <a:ext cx="387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Model A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38912" y="1257301"/>
            <a:ext cx="38772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Input: 140,584 balanced rows (article + question + option → TF-IDF/OHE)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LR: C=1.0, max_iter=1000, solver=lbfgs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SVM: LinearSVC → calibrated with CalibratedClassifierCV (3-fold CV)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NB: MultinomialNB with alpha smoothing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K-Means k=2; GMM 2 components on TruncatedSVD 100-dim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Label Propagation: kNN k=7, 20% labeled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20050" y="3219124"/>
            <a:ext cx="4114800" cy="18645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38912" y="3200400"/>
            <a:ext cx="3877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Question Retrieval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38912" y="3511296"/>
            <a:ext cx="387705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Pool: 31,832 (question, article, answer) tuples from RACE training 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Stage 1: Fit TF-IDF on pool; cosine similarity → top-20 shortlist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Stage 2: LR re-ranker on 5 hand-crafted features selects best question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Custom article: batch vectorisation finds most similar pool article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90200" y="900674"/>
            <a:ext cx="4239000" cy="22302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709067" y="1005793"/>
            <a:ext cx="387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Model B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709075" y="1257300"/>
            <a:ext cx="38772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Distractor Ranker: 6,000 positive (real RACE wrong options) + 12,000 negatives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RF: 200 trees, max depth 10, 7-feature vector per candidate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Diversity filter: Jaccard &gt; 0.5 de-duplication → 3 distinct distractors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Hint Scorer: 4,000 sentences, balanced via upsampling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LR hint scorer: 6 features (cosine, overlap ratios, position flags)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Hint selection: 3-step graduated strategy (Q-match → scorer → keyword)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590200" y="3219125"/>
            <a:ext cx="4170000" cy="18645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736592" y="3200400"/>
            <a:ext cx="3877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Ensemble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736592" y="3511296"/>
            <a:ext cx="387705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Soft voting: average predicted probabilities from LR, calibrated SVM, NB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All models use same TF-IDF vectoriser (10K features)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SVM calibration uses 3-fold cross-validation on training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Final prediction: argmax of averaged class probabilities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320040" y="256032"/>
            <a:ext cx="54864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75488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Model Testing &amp; Evaluation Results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75488" y="6217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Performance across all models and components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20040" y="105156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Model A — Answer Verification (Ranked by Accuracy)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9"/>
          <p:cNvGraphicFramePr/>
          <p:nvPr/>
        </p:nvGraphicFramePr>
        <p:xfrm>
          <a:off x="3200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{B730256D-7058-4DCC-B27E-2720BC0A7BA4}</a:tableStyleId>
              </a:tblPr>
              <a:tblGrid>
                <a:gridCol w="2286000"/>
                <a:gridCol w="1371600"/>
                <a:gridCol w="1097275"/>
                <a:gridCol w="1097275"/>
                <a:gridCol w="2560325"/>
              </a:tblGrid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 F1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A4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 + TF-IDF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TF-IDF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0.429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K-Means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SVD-100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Unsupervised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GMM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SVD-100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Unsupervised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Ensemble Soft Vote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TF-IDF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0.514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0.471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Ensemble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NB + OHE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OHE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 + OHE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OHE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Label Propagation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SVD-100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Semi-Supervised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9"/>
          <p:cNvSpPr/>
          <p:nvPr/>
        </p:nvSpPr>
        <p:spPr>
          <a:xfrm>
            <a:off x="320040" y="33649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Model B — Distractor Ranker &amp; Hint Scorer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9"/>
          <p:cNvGraphicFramePr/>
          <p:nvPr/>
        </p:nvGraphicFramePr>
        <p:xfrm>
          <a:off x="320040" y="3639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{B730256D-7058-4DCC-B27E-2720BC0A7BA4}</a:tableStyleId>
              </a:tblPr>
              <a:tblGrid>
                <a:gridCol w="3200400"/>
                <a:gridCol w="1234450"/>
                <a:gridCol w="1234450"/>
                <a:gridCol w="1234450"/>
                <a:gridCol w="1508750"/>
              </a:tblGrid>
              <a:tr h="26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6DA4"/>
                    </a:solidFill>
                  </a:tcPr>
                </a:tc>
              </a:tr>
              <a:tr h="26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Distractor Ranker (RF — selected)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26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Distractor Ranker (LR — baseline)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26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Hint Scorer (LR)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3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2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D9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/>
          <p:nvPr/>
        </p:nvSpPr>
        <p:spPr>
          <a:xfrm>
            <a:off x="320040" y="256032"/>
            <a:ext cx="54864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75488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Performance Metrics &amp; Interpretation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75488" y="6217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End-to-end NLP evaluation on 200 test samples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320040" y="105156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NLP Generation Metrics (200 test samples)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10"/>
          <p:cNvGraphicFramePr/>
          <p:nvPr/>
        </p:nvGraphicFramePr>
        <p:xfrm>
          <a:off x="320040" y="1325880"/>
          <a:ext cx="5029200" cy="34747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37" name="Google Shape;237;p10"/>
          <p:cNvSpPr/>
          <p:nvPr/>
        </p:nvSpPr>
        <p:spPr>
          <a:xfrm>
            <a:off x="5577840" y="105156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Metric Interpretation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577840" y="1353312"/>
            <a:ext cx="3200400" cy="804672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5687568" y="1389888"/>
            <a:ext cx="2980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Low BLEU (0.04–0.07)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687568" y="1645920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Expected for retrieval systems — surface n-gram overlap with human references is inherently limited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577840" y="2231136"/>
            <a:ext cx="3200400" cy="804672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5687568" y="2267712"/>
            <a:ext cx="2980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ROUGE-1 0.21 (Hints)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687568" y="2523744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Extracted article sentences share vocabulary with question+answer reference — best generation task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577840" y="3108960"/>
            <a:ext cx="3200400" cy="804672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687568" y="3145536"/>
            <a:ext cx="2980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METEOR 0.277 (Hints)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687568" y="3401568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Highest score — hint sentences are semantically closest to reference because both come from same article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577840" y="3986784"/>
            <a:ext cx="3200400" cy="804672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5687568" y="4023360"/>
            <a:ext cx="2980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F1 0.858 (Distractor)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687568" y="4279392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Full-sentence ranking harder than n-gram; reflects genuine task difficulty, not overfitting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320040" y="256032"/>
            <a:ext cx="54864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75488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75488" y="6217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99"/>
                </a:solidFill>
                <a:latin typeface="Calibri"/>
                <a:ea typeface="Calibri"/>
                <a:cs typeface="Calibri"/>
                <a:sym typeface="Calibri"/>
              </a:rPr>
              <a:t>4-Screen Streamlit Application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20040" y="1078992"/>
            <a:ext cx="4114800" cy="17830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320040" y="1078992"/>
            <a:ext cx="502920" cy="1783080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320040" y="1078992"/>
            <a:ext cx="5029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914400" y="117043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Article 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914400" y="1517904"/>
            <a:ext cx="34290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Paste custom article or load random RACE sample. TF-IDF cosine finds best-matching pool entry. Spinner shows inference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727448" y="1078992"/>
            <a:ext cx="4114800" cy="17830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727448" y="1078992"/>
            <a:ext cx="502920" cy="1783080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727448" y="1078992"/>
            <a:ext cx="5029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321808" y="117043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Quiz 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321808" y="1517904"/>
            <a:ext cx="34290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Passage in collapsible expander, retrieved question, 4 radio button options. Color-coded feedback + model confidence score.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20040" y="2999232"/>
            <a:ext cx="4114800" cy="17830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320040" y="2999232"/>
            <a:ext cx="502920" cy="1783080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320040" y="2999232"/>
            <a:ext cx="5029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914400" y="309067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Hint Panel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914400" y="3438144"/>
            <a:ext cx="34290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3 graduated hints revealed one at a time: general → specific → near-explicit. Answer revealed only after all hints shown.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727448" y="2999232"/>
            <a:ext cx="4114800" cy="178308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BDD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727448" y="2999232"/>
            <a:ext cx="502920" cy="1783080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727448" y="2999232"/>
            <a:ext cx="5029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321808" y="309067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Analytics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321808" y="3438144"/>
            <a:ext cx="34290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Total attempts, accuracy, avg latency. Model performance tables, session log, CSV export, latency line chart.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9FD4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320040" y="987552"/>
            <a:ext cx="4114800" cy="1170432"/>
          </a:xfrm>
          <a:prstGeom prst="rect">
            <a:avLst/>
          </a:prstGeom>
          <a:solidFill>
            <a:srgbClr val="1E4D7B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57200" y="10789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F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FD4"/>
                </a:solidFill>
                <a:latin typeface="Calibri"/>
                <a:ea typeface="Calibri"/>
                <a:cs typeface="Calibri"/>
                <a:sym typeface="Calibri"/>
              </a:rPr>
              <a:t>Model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57200" y="133502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Ensemble Macro F1 0.471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57200" y="1645920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Reasonable for classical ML on RACE; BERT achieves ~65%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4727448" y="987552"/>
            <a:ext cx="4114800" cy="1170432"/>
          </a:xfrm>
          <a:prstGeom prst="rect">
            <a:avLst/>
          </a:prstGeom>
          <a:solidFill>
            <a:srgbClr val="1E4D7B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4864608" y="10789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F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FD4"/>
                </a:solidFill>
                <a:latin typeface="Calibri"/>
                <a:ea typeface="Calibri"/>
                <a:cs typeface="Calibri"/>
                <a:sym typeface="Calibri"/>
              </a:rPr>
              <a:t>Model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4864608" y="133502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 F1 0.858 / LR Acc 0.994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864608" y="1645920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Strong distractor ranking &amp; near-perfect hint scoring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320040" y="2286000"/>
            <a:ext cx="4114800" cy="1170432"/>
          </a:xfrm>
          <a:prstGeom prst="rect">
            <a:avLst/>
          </a:prstGeom>
          <a:solidFill>
            <a:srgbClr val="1E4D7B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57200" y="23774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F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FD4"/>
                </a:solidFill>
                <a:latin typeface="Calibri"/>
                <a:ea typeface="Calibri"/>
                <a:cs typeface="Calibri"/>
                <a:sym typeface="Calibri"/>
              </a:rPr>
              <a:t>NLP 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57200" y="263347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ROUGE-1 0.21, METEOR 0.28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57200" y="2944368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Expected for retrieval/extraction — coherent article-grounded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727448" y="2286000"/>
            <a:ext cx="4114800" cy="1170432"/>
          </a:xfrm>
          <a:prstGeom prst="rect">
            <a:avLst/>
          </a:prstGeom>
          <a:solidFill>
            <a:srgbClr val="1E4D7B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864608" y="23774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F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FD4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864608" y="263347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4-Screen Streamlit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864608" y="2944368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No GPU required; runs on standard hardware; accessible for instructors &amp; students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320040" y="3639312"/>
            <a:ext cx="8412480" cy="713232"/>
          </a:xfrm>
          <a:prstGeom prst="rect">
            <a:avLst/>
          </a:prstGeom>
          <a:solidFill>
            <a:srgbClr val="152F50"/>
          </a:solidFill>
          <a:ln cap="flat" cmpd="sng" w="12700">
            <a:solidFill>
              <a:srgbClr val="4A9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457200" y="36758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F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FD4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Fine-tune BERT/T5 on RACE  ·  Replace TF-IDF with Word2Vec/GloVe  ·  NER-based answer extraction  ·  Multi-question support per article  ·  Human evaluation of distractor plausibility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2026-05-09T21:37:37Z</dcterms:created>
  <dc:creator>PptxGenJS</dc:creator>
</cp:coreProperties>
</file>